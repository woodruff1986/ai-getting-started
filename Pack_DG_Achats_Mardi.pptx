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Feuille de route Achats - DG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Est Ensemble Habitat | Pack de presentation pour mardi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Roadmap 90 jours achats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/>
            </a:pPr>
            <a:r>
              <a:t>Axe 1 - Cartographie et pilotage des depenses (J0-J30 / J31-J60 / J61-J90)</a:t>
            </a:r>
          </a:p>
          <a:p>
            <a:pPr lvl="1"/>
            <a:r>
              <a:t>Nomenclature achats V1 validee (familles/sous-familles)</a:t>
            </a:r>
          </a:p>
          <a:p>
            <a:pPr lvl="1"/>
            <a:r>
              <a:t>Donnees cibles definies et taux de couverture cartographie &gt; 80 %</a:t>
            </a:r>
          </a:p>
          <a:p>
            <a:pPr lvl="1"/>
            <a:r>
              <a:t>Top 10 pistes de mutualisation priorisees</a:t>
            </a:r>
          </a:p>
          <a:p>
            <a:pPr lvl="1"/>
            <a:r>
              <a:t>Reporting DG mensuel stabilise</a:t>
            </a:r>
          </a:p>
          <a:p>
            <a:pPr>
              <a:defRPr b="1"/>
            </a:pPr>
            <a:r>
              <a:t>Axe 2 - SPASER (obligation reglementaire)</a:t>
            </a:r>
          </a:p>
          <a:p>
            <a:pPr lvl="1"/>
            <a:r>
              <a:t>Cadrage, gouvernance et planning valides</a:t>
            </a:r>
          </a:p>
          <a:p>
            <a:pPr lvl="1"/>
            <a:r>
              <a:t>Diagnostic initial + objectifs + indicateurs SPASER</a:t>
            </a:r>
          </a:p>
          <a:p>
            <a:pPr lvl="1"/>
            <a:r>
              <a:t>Version consolidee et plan de deploiement inter-directions</a:t>
            </a:r>
          </a:p>
          <a:p>
            <a:pPr>
              <a:defRPr b="1"/>
            </a:pPr>
            <a:r>
              <a:t>Axe 3 - Professionnalisation achats</a:t>
            </a:r>
          </a:p>
          <a:p>
            <a:pPr lvl="1"/>
            <a:r>
              <a:t>2 fiches pedagogiques prioritaires diffusables</a:t>
            </a:r>
          </a:p>
          <a:p>
            <a:pPr lvl="1"/>
            <a:r>
              <a:t>Parcours de formation: bases achats / amont / aval</a:t>
            </a:r>
          </a:p>
          <a:p>
            <a:pPr lvl="1"/>
            <a:r>
              <a:t>Lancement des 1eres sessions et boucle d'amelioration continue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Tableau de bord DG - Indicateurs de pilotage achats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188720"/>
          <a:ext cx="749808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2011680"/>
                <a:gridCol w="1828800"/>
                <a:gridCol w="1463040"/>
                <a:gridCol w="1280160"/>
              </a:tblGrid>
              <a:tr h="640080"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KPI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Definition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Cible T2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Realise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Tendance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Taux depenses cartographiees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% depenses rattachees a la nomenclature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80%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xx%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↗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Familles avec donnees completes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% familles qualifiees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70%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xx%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↗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Mutualisations identifiees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Nombre de pistes priorisees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↗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Mutualisations lancees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Nombre avec action engagee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→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Avancement SPASER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% jalons realises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40%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xx%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↗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Fiches pedagogiques publiees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Nombre de fiches diffusees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↗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Agents formes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Nombre de participants formes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↗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 10 mutualisations potentielles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188720"/>
          <a:ext cx="1069848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2011680"/>
                <a:gridCol w="1828800"/>
                <a:gridCol w="1463040"/>
                <a:gridCol w="1280160"/>
                <a:gridCol w="1097280"/>
                <a:gridCol w="2103120"/>
              </a:tblGrid>
              <a:tr h="465512"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Famille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Enjeu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Gain attendu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Complexite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Quick win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Prochaine etape</a:t>
                      </a:r>
                    </a:p>
                  </a:txBody>
                  <a:tcPr/>
                </a:tc>
              </a:tr>
              <a:tr h="46551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Geotechnique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Moyen/eleve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Prix + delais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Moyenne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Oui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Standardiser le CDC</a:t>
                      </a:r>
                    </a:p>
                  </a:txBody>
                  <a:tcPr/>
                </a:tc>
              </a:tr>
              <a:tr h="46551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Pollution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Moyen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Moins de dispersion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Moyenne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Oui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Regrouper besoins annuels</a:t>
                      </a:r>
                    </a:p>
                  </a:txBody>
                  <a:tcPr/>
                </a:tc>
              </a:tr>
              <a:tr h="46551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AMO Environnement/Ecologue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Eleve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Conformite + cout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Moyenne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Oui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Accord-cadre type</a:t>
                      </a:r>
                    </a:p>
                  </a:txBody>
                  <a:tcPr/>
                </a:tc>
              </a:tr>
              <a:tr h="46551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CSPS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Moyen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Effet volume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Faible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Oui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Consultation groupee</a:t>
                      </a:r>
                    </a:p>
                  </a:txBody>
                  <a:tcPr/>
                </a:tc>
              </a:tr>
              <a:tr h="46551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Bureau de controle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Moyen/eleve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Massification + qualite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Moyenne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Oui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Nomenclature + allotissement</a:t>
                      </a:r>
                    </a:p>
                  </a:txBody>
                  <a:tcPr/>
                </a:tc>
              </a:tr>
              <a:tr h="46551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AMO general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Eleve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Reactivite + cout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Moyenne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Non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Panel prestataires</a:t>
                      </a:r>
                    </a:p>
                  </a:txBody>
                  <a:tcPr/>
                </a:tc>
              </a:tr>
              <a:tr h="46551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MOE faisabilite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Moyen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Methodes homogenes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Moyenne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Non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Trame besoin commune</a:t>
                      </a:r>
                    </a:p>
                  </a:txBody>
                  <a:tcPr/>
                </a:tc>
              </a:tr>
              <a:tr h="46551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Conseil juridique BRS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Moyen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Securisation + prix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Faible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Oui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Convention cadre</a:t>
                      </a:r>
                    </a:p>
                  </a:txBody>
                  <a:tcPr/>
                </a:tc>
              </a:tr>
              <a:tr h="46551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Commercialisation accession/vente HLM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Eleve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Perf. commerciale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Elevee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Non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Strategie de lotissement</a:t>
                      </a:r>
                    </a:p>
                  </a:txBody>
                  <a:tcPr/>
                </a:tc>
              </a:tr>
              <a:tr h="46552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Avocats referes/contentieux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Moyen/eleve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Moins d'aleas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Moyenne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Oui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Accord-cadre BDC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Fiche pedagogique 1 - Subvention vs prestation de service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/>
            </a:pPr>
            <a:r>
              <a:t>Question cle</a:t>
            </a:r>
          </a:p>
          <a:p>
            <a:pPr lvl="1"/>
            <a:r>
              <a:t>Si EEH definit un besoin precis avec contrepartie directe: marche public</a:t>
            </a:r>
          </a:p>
          <a:p>
            <a:pPr lvl="1"/>
            <a:r>
              <a:t>Si initiative propre du beneficiaire sans contrepartie individualisee: subvention</a:t>
            </a:r>
          </a:p>
          <a:p>
            <a:pPr>
              <a:defRPr b="1"/>
            </a:pPr>
            <a:r>
              <a:t>Indices de prestation (marche public)</a:t>
            </a:r>
          </a:p>
          <a:p>
            <a:pPr lvl="1"/>
            <a:r>
              <a:t>Cahier des charges, livrables, remuneration en contrepartie directe</a:t>
            </a:r>
          </a:p>
          <a:p>
            <a:pPr lvl="1"/>
            <a:r>
              <a:t>Pilotage de l'execution (delais, qualite, penalites)</a:t>
            </a:r>
          </a:p>
          <a:p>
            <a:pPr>
              <a:defRPr b="1"/>
            </a:pPr>
            <a:r>
              <a:t>Reflexe operationnel en 4 points</a:t>
            </a:r>
          </a:p>
          <a:p>
            <a:pPr lvl="1"/>
            <a:r>
              <a:t>1) Qui initie ? 2) Contrepartie directe ? 3) Livrables decrits ? 4) Paiement lie au service ?</a:t>
            </a:r>
          </a:p>
          <a:p>
            <a:pPr lvl="1"/>
            <a:r>
              <a:t>Si au moins 2 oui sur 2/3/4: orienter vers marche public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Fiche pedagogique 2 - Check-list amont lancement d'un marche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/>
            </a:pPr>
            <a:r>
              <a:t>Points de validation avant consultation</a:t>
            </a:r>
          </a:p>
          <a:p>
            <a:pPr lvl="1"/>
            <a:r>
              <a:t>Besoin fonctionnel clarifie, budget securise, calendrier realiste</a:t>
            </a:r>
          </a:p>
          <a:p>
            <a:pPr lvl="1"/>
            <a:r>
              <a:t>Historique marche, affectation nomenclature, strategie achat (allotissement, duree, criteres)</a:t>
            </a:r>
          </a:p>
          <a:p>
            <a:pPr lvl="1"/>
            <a:r>
              <a:t>Exigences RSE/SPASER integrees et risques juridiques/techniques identifies</a:t>
            </a:r>
          </a:p>
          <a:p>
            <a:pPr lvl="1"/>
            <a:r>
              <a:t>Gouvernance interne claire: qui valide quoi et quand</a:t>
            </a:r>
          </a:p>
          <a:p>
            <a:pPr>
              <a:defRPr b="1"/>
            </a:pPr>
            <a:r>
              <a:t>Livrables minimum attendus</a:t>
            </a:r>
          </a:p>
          <a:p>
            <a:pPr lvl="1"/>
            <a:r>
              <a:t>Note de besoin (2 pages max)</a:t>
            </a:r>
          </a:p>
          <a:p>
            <a:pPr lvl="1"/>
            <a:r>
              <a:t>Strategie de consultation (1 page)</a:t>
            </a:r>
          </a:p>
          <a:p>
            <a:pPr lvl="1"/>
            <a:r>
              <a:t>Planning jalonne et grille de risques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Script oral DG (1 minute)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/>
            </a:pPr>
            <a:r>
              <a:t>Message a porter</a:t>
            </a:r>
          </a:p>
          <a:p>
            <a:pPr lvl="1"/>
            <a:r>
              <a:t>La fonction achats est structuree autour de 3 leviers: visibilite, conformite SPASER, professionnalisation.</a:t>
            </a:r>
          </a:p>
          <a:p>
            <a:pPr lvl="1"/>
            <a:r>
              <a:t>Des livrables immediatement actionnables sont prets: KPI, mutualisations, fiches pedagogiques.</a:t>
            </a:r>
          </a:p>
          <a:p>
            <a:pPr lvl="1"/>
            <a:r>
              <a:t>Double objectif: securiser juridiquement les achats et accelerer la performance operationnelle.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